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123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A10D5-5282-4D9F-BEE5-7273E59B359C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44CD6B-EFE2-4D81-B11E-40B65F91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88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Good morning everyone.</a:t>
            </a:r>
            <a:endParaRPr lang="en-US" dirty="0"/>
          </a:p>
          <a:p>
            <a:r>
              <a:rPr lang="en-US" dirty="0"/>
              <a:t>Our project is </a:t>
            </a:r>
            <a:r>
              <a:rPr lang="en-US" b="1" dirty="0"/>
              <a:t>DHSGU Research Cell</a:t>
            </a:r>
            <a:r>
              <a:rPr lang="en-US" dirty="0"/>
              <a:t>, a centralized research platform designed for </a:t>
            </a:r>
            <a:r>
              <a:rPr lang="en-US" b="1" dirty="0"/>
              <a:t>students, scholars, and professors</a:t>
            </a:r>
            <a:r>
              <a:rPr lang="en-US" dirty="0"/>
              <a:t> of Dr. </a:t>
            </a:r>
            <a:r>
              <a:rPr lang="en-US" dirty="0" err="1"/>
              <a:t>Harisingh</a:t>
            </a:r>
            <a:r>
              <a:rPr lang="en-US" dirty="0"/>
              <a:t> Gour Vishwavidyalaya.</a:t>
            </a:r>
          </a:p>
          <a:p>
            <a:r>
              <a:rPr lang="en-US" dirty="0"/>
              <a:t>The main purpose of this application is to bring all university research-related information into </a:t>
            </a:r>
            <a:r>
              <a:rPr lang="en-US" b="1" dirty="0"/>
              <a:t>one platform</a:t>
            </a:r>
            <a:r>
              <a:rPr lang="en-US" dirty="0"/>
              <a:t>.</a:t>
            </a:r>
          </a:p>
          <a:p>
            <a:r>
              <a:rPr lang="en-US" dirty="0"/>
              <a:t>Through this application:</a:t>
            </a:r>
          </a:p>
          <a:p>
            <a:pPr lvl="0"/>
            <a:r>
              <a:rPr lang="en-US" dirty="0"/>
              <a:t>Students and researchers can easily find </a:t>
            </a:r>
            <a:r>
              <a:rPr lang="en-US" b="1" dirty="0"/>
              <a:t>research information and opportunities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Professors and researchers can create and maintain their </a:t>
            </a:r>
            <a:r>
              <a:rPr lang="en-US" b="1" dirty="0"/>
              <a:t>professional profiles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Users can manage </a:t>
            </a:r>
            <a:r>
              <a:rPr lang="en-US" b="1" dirty="0"/>
              <a:t>research projects, papers, publications, and patents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The system provides notifications about </a:t>
            </a:r>
            <a:r>
              <a:rPr lang="en-US" b="1" dirty="0"/>
              <a:t>funding opportunities, conferences, and other research events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Researchers can also </a:t>
            </a:r>
            <a:r>
              <a:rPr lang="en-US" b="1" dirty="0"/>
              <a:t>submit project proposals and track their approval status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It maintains records of </a:t>
            </a:r>
            <a:r>
              <a:rPr lang="en-US" b="1" dirty="0"/>
              <a:t>papers, books, patents, projects, and conferences</a:t>
            </a:r>
            <a:r>
              <a:rPr lang="en-US" dirty="0"/>
              <a:t>.</a:t>
            </a:r>
          </a:p>
          <a:p>
            <a:r>
              <a:rPr lang="en-US" dirty="0"/>
              <a:t>In simple words, </a:t>
            </a:r>
            <a:r>
              <a:rPr lang="en-US" b="1" dirty="0"/>
              <a:t>DHSGU Research Cell makes university research more organized, accessible, and connected.</a:t>
            </a:r>
            <a:endParaRPr lang="en-US" dirty="0"/>
          </a:p>
          <a:p>
            <a:r>
              <a:rPr lang="en-US" dirty="0"/>
              <a:t>Our goal is to create a </a:t>
            </a:r>
            <a:r>
              <a:rPr lang="en-US" b="1" dirty="0"/>
              <a:t>single digital platform that helps students, scholars, and professors collaborate and grow in research.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4CD6B-EFE2-4D81-B11E-40B65F91B7D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649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Good morning everyone.</a:t>
            </a:r>
            <a:endParaRPr lang="en-US" dirty="0"/>
          </a:p>
          <a:p>
            <a:r>
              <a:rPr lang="en-US" dirty="0"/>
              <a:t>Our project is </a:t>
            </a:r>
            <a:r>
              <a:rPr lang="en-US" b="1" dirty="0"/>
              <a:t>DHSGU Research Cell</a:t>
            </a:r>
            <a:r>
              <a:rPr lang="en-US" dirty="0"/>
              <a:t>, a centralized research platform designed for </a:t>
            </a:r>
            <a:r>
              <a:rPr lang="en-US" b="1" dirty="0"/>
              <a:t>students, scholars, and professors</a:t>
            </a:r>
            <a:r>
              <a:rPr lang="en-US" dirty="0"/>
              <a:t> of Dr. </a:t>
            </a:r>
            <a:r>
              <a:rPr lang="en-US" dirty="0" err="1"/>
              <a:t>Harisingh</a:t>
            </a:r>
            <a:r>
              <a:rPr lang="en-US" dirty="0"/>
              <a:t> Gour Vishwavidyalaya.</a:t>
            </a:r>
          </a:p>
          <a:p>
            <a:r>
              <a:rPr lang="en-US" dirty="0"/>
              <a:t>The main purpose of this application is to bring all university research-related information into </a:t>
            </a:r>
            <a:r>
              <a:rPr lang="en-US" b="1" dirty="0"/>
              <a:t>one platform</a:t>
            </a:r>
            <a:r>
              <a:rPr lang="en-US" dirty="0"/>
              <a:t>.</a:t>
            </a:r>
          </a:p>
          <a:p>
            <a:r>
              <a:rPr lang="en-US" dirty="0"/>
              <a:t>Through this application:</a:t>
            </a:r>
          </a:p>
          <a:p>
            <a:pPr lvl="0"/>
            <a:r>
              <a:rPr lang="en-US" dirty="0"/>
              <a:t>Students and researchers can easily find </a:t>
            </a:r>
            <a:r>
              <a:rPr lang="en-US" b="1" dirty="0"/>
              <a:t>research information and opportunities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Professors and researchers can create and maintain their </a:t>
            </a:r>
            <a:r>
              <a:rPr lang="en-US" b="1" dirty="0"/>
              <a:t>professional profiles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Users can manage </a:t>
            </a:r>
            <a:r>
              <a:rPr lang="en-US" b="1" dirty="0"/>
              <a:t>research projects, papers, publications, and patents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The system provides notifications about </a:t>
            </a:r>
            <a:r>
              <a:rPr lang="en-US" b="1" dirty="0"/>
              <a:t>funding opportunities, conferences, and other research events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Researchers can also </a:t>
            </a:r>
            <a:r>
              <a:rPr lang="en-US" b="1" dirty="0"/>
              <a:t>submit project proposals and track their approval status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It maintains records of </a:t>
            </a:r>
            <a:r>
              <a:rPr lang="en-US" b="1" dirty="0"/>
              <a:t>papers, books, patents, projects, and conferences</a:t>
            </a:r>
            <a:r>
              <a:rPr lang="en-US" dirty="0"/>
              <a:t>.</a:t>
            </a:r>
          </a:p>
          <a:p>
            <a:r>
              <a:rPr lang="en-US" dirty="0"/>
              <a:t>In simple words, </a:t>
            </a:r>
            <a:r>
              <a:rPr lang="en-US" b="1" dirty="0"/>
              <a:t>DHSGU Research Cell makes university research more organized, accessible, and connected.</a:t>
            </a:r>
            <a:endParaRPr lang="en-US" dirty="0"/>
          </a:p>
          <a:p>
            <a:r>
              <a:rPr lang="en-US" dirty="0"/>
              <a:t>Our goal is to create a </a:t>
            </a:r>
            <a:r>
              <a:rPr lang="en-US" b="1" dirty="0"/>
              <a:t>single digital platform that helps students, scholars, and professors collaborate and grow in research.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4CD6B-EFE2-4D81-B11E-40B65F91B7D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536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Good morning everyone.</a:t>
            </a:r>
            <a:endParaRPr lang="en-US" dirty="0"/>
          </a:p>
          <a:p>
            <a:r>
              <a:rPr lang="en-US" dirty="0"/>
              <a:t>Our project is </a:t>
            </a:r>
            <a:r>
              <a:rPr lang="en-US" b="1" dirty="0"/>
              <a:t>DHSGU Research Cell</a:t>
            </a:r>
            <a:r>
              <a:rPr lang="en-US" dirty="0"/>
              <a:t>, a centralized research platform designed for </a:t>
            </a:r>
            <a:r>
              <a:rPr lang="en-US" b="1" dirty="0"/>
              <a:t>students, scholars, and professors</a:t>
            </a:r>
            <a:r>
              <a:rPr lang="en-US" dirty="0"/>
              <a:t> of Dr. </a:t>
            </a:r>
            <a:r>
              <a:rPr lang="en-US" dirty="0" err="1"/>
              <a:t>Harisingh</a:t>
            </a:r>
            <a:r>
              <a:rPr lang="en-US" dirty="0"/>
              <a:t> Gour Vishwavidyalaya.</a:t>
            </a:r>
          </a:p>
          <a:p>
            <a:r>
              <a:rPr lang="en-US" dirty="0"/>
              <a:t>The main purpose of this application is to bring all university research-related information into </a:t>
            </a:r>
            <a:r>
              <a:rPr lang="en-US" b="1" dirty="0"/>
              <a:t>one platform</a:t>
            </a:r>
            <a:r>
              <a:rPr lang="en-US" dirty="0"/>
              <a:t>.</a:t>
            </a:r>
          </a:p>
          <a:p>
            <a:r>
              <a:rPr lang="en-US" dirty="0"/>
              <a:t>Through this application:</a:t>
            </a:r>
          </a:p>
          <a:p>
            <a:pPr lvl="0"/>
            <a:r>
              <a:rPr lang="en-US" dirty="0"/>
              <a:t>Students and researchers can easily find </a:t>
            </a:r>
            <a:r>
              <a:rPr lang="en-US" b="1" dirty="0"/>
              <a:t>research information and opportunities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Professors and researchers can create and maintain their </a:t>
            </a:r>
            <a:r>
              <a:rPr lang="en-US" b="1" dirty="0"/>
              <a:t>professional profiles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Users can manage </a:t>
            </a:r>
            <a:r>
              <a:rPr lang="en-US" b="1" dirty="0"/>
              <a:t>research projects, papers, publications, and patents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The system provides notifications about </a:t>
            </a:r>
            <a:r>
              <a:rPr lang="en-US" b="1" dirty="0"/>
              <a:t>funding opportunities, conferences, and other research events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Researchers can also </a:t>
            </a:r>
            <a:r>
              <a:rPr lang="en-US" b="1" dirty="0"/>
              <a:t>submit project proposals and track their approval status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It maintains records of </a:t>
            </a:r>
            <a:r>
              <a:rPr lang="en-US" b="1" dirty="0"/>
              <a:t>papers, books, patents, projects, and conferences</a:t>
            </a:r>
            <a:r>
              <a:rPr lang="en-US" dirty="0"/>
              <a:t>.</a:t>
            </a:r>
          </a:p>
          <a:p>
            <a:r>
              <a:rPr lang="en-US" dirty="0"/>
              <a:t>In simple words, </a:t>
            </a:r>
            <a:r>
              <a:rPr lang="en-US" b="1" dirty="0"/>
              <a:t>DHSGU Research Cell makes university research more organized, accessible, and connected.</a:t>
            </a:r>
            <a:endParaRPr lang="en-US" dirty="0"/>
          </a:p>
          <a:p>
            <a:r>
              <a:rPr lang="en-US" dirty="0"/>
              <a:t>Our goal is to create a </a:t>
            </a:r>
            <a:r>
              <a:rPr lang="en-US" b="1" dirty="0"/>
              <a:t>single digital platform that helps students, scholars, and professors collaborate and grow in research.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4CD6B-EFE2-4D81-B11E-40B65F91B7D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504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Good morning everyone.</a:t>
            </a:r>
            <a:endParaRPr lang="en-US" dirty="0"/>
          </a:p>
          <a:p>
            <a:r>
              <a:rPr lang="en-US" dirty="0"/>
              <a:t>Our project is </a:t>
            </a:r>
            <a:r>
              <a:rPr lang="en-US" b="1" dirty="0"/>
              <a:t>DHSGU Research Cell</a:t>
            </a:r>
            <a:r>
              <a:rPr lang="en-US" dirty="0"/>
              <a:t>, a centralized research platform designed for </a:t>
            </a:r>
            <a:r>
              <a:rPr lang="en-US" b="1" dirty="0"/>
              <a:t>students, scholars, and professors</a:t>
            </a:r>
            <a:r>
              <a:rPr lang="en-US" dirty="0"/>
              <a:t> of Dr. </a:t>
            </a:r>
            <a:r>
              <a:rPr lang="en-US" dirty="0" err="1"/>
              <a:t>Harisingh</a:t>
            </a:r>
            <a:r>
              <a:rPr lang="en-US" dirty="0"/>
              <a:t> Gour Vishwavidyalaya.</a:t>
            </a:r>
          </a:p>
          <a:p>
            <a:r>
              <a:rPr lang="en-US" dirty="0"/>
              <a:t>The main purpose of this application is to bring all university research-related information into </a:t>
            </a:r>
            <a:r>
              <a:rPr lang="en-US" b="1" dirty="0"/>
              <a:t>one platform</a:t>
            </a:r>
            <a:r>
              <a:rPr lang="en-US" dirty="0"/>
              <a:t>.</a:t>
            </a:r>
          </a:p>
          <a:p>
            <a:r>
              <a:rPr lang="en-US" dirty="0"/>
              <a:t>Through this application:</a:t>
            </a:r>
          </a:p>
          <a:p>
            <a:pPr lvl="0"/>
            <a:r>
              <a:rPr lang="en-US" dirty="0"/>
              <a:t>Students and researchers can easily find </a:t>
            </a:r>
            <a:r>
              <a:rPr lang="en-US" b="1" dirty="0"/>
              <a:t>research information and opportunities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Professors and researchers can create and maintain their </a:t>
            </a:r>
            <a:r>
              <a:rPr lang="en-US" b="1" dirty="0"/>
              <a:t>professional profiles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Users can manage </a:t>
            </a:r>
            <a:r>
              <a:rPr lang="en-US" b="1" dirty="0"/>
              <a:t>research projects, papers, publications, and patents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The system provides notifications about </a:t>
            </a:r>
            <a:r>
              <a:rPr lang="en-US" b="1" dirty="0"/>
              <a:t>funding opportunities, conferences, and other research events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Researchers can also </a:t>
            </a:r>
            <a:r>
              <a:rPr lang="en-US" b="1" dirty="0"/>
              <a:t>submit project proposals and track their approval status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It maintains records of </a:t>
            </a:r>
            <a:r>
              <a:rPr lang="en-US" b="1" dirty="0"/>
              <a:t>papers, books, patents, projects, and conferences</a:t>
            </a:r>
            <a:r>
              <a:rPr lang="en-US" dirty="0"/>
              <a:t>.</a:t>
            </a:r>
          </a:p>
          <a:p>
            <a:r>
              <a:rPr lang="en-US" dirty="0"/>
              <a:t>In simple words, </a:t>
            </a:r>
            <a:r>
              <a:rPr lang="en-US" b="1" dirty="0"/>
              <a:t>DHSGU Research Cell makes university research more organized, accessible, and connected.</a:t>
            </a:r>
            <a:endParaRPr lang="en-US" dirty="0"/>
          </a:p>
          <a:p>
            <a:r>
              <a:rPr lang="en-US" dirty="0"/>
              <a:t>Our goal is to create a </a:t>
            </a:r>
            <a:r>
              <a:rPr lang="en-US" b="1" dirty="0"/>
              <a:t>single digital platform that helps students, scholars, and professors collaborate and grow in research.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4CD6B-EFE2-4D81-B11E-40B65F91B7D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351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731520"/>
            <a:ext cx="3657600" cy="34747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36576" rtlCol="0" anchor="ctr"/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rPr dirty="0">
                <a:latin typeface="TT Firs Neue" panose="020B0003030000020004" pitchFamily="34" charset="0"/>
              </a:rPr>
              <a:t>🏆 CODECRAFT CHALLENGE — PROBLEM </a:t>
            </a:r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103105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University Research Cell</a:t>
            </a:r>
          </a:p>
          <a:p>
            <a:pPr>
              <a:defRPr sz="2800" b="1">
                <a:solidFill>
                  <a:srgbClr val="3B82F6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Mobile App &amp; 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6400800" cy="43088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Full-stack platform for faculty profiles, publications, patents, grants, and AI-powered R&amp;D advisory.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611880"/>
            <a:ext cx="1920240" cy="329184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>
              <a:defRPr sz="900" b="1">
                <a:solidFill>
                  <a:srgbClr val="06B6D4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React Native + Expo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3611880"/>
            <a:ext cx="1920240" cy="329184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>
              <a:defRPr sz="900" b="1">
                <a:solidFill>
                  <a:srgbClr val="10B981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Node.js + Express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611880"/>
            <a:ext cx="1920240" cy="329184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Hostinger MySQL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611880"/>
            <a:ext cx="1920240" cy="329184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>
              <a:defRPr sz="900" b="1">
                <a:solidFill>
                  <a:srgbClr val="A855F7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AI Chatbot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2560320" cy="9144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200" b="1">
                <a:solidFill>
                  <a:srgbClr val="06B6D4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🎓 Student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Mentors · Digests · Internships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206240"/>
            <a:ext cx="2560320" cy="9144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200" b="1">
                <a:solidFill>
                  <a:srgbClr val="10B981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🔬 Scholar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Thesis · Fellowships · DOI Lib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206240"/>
            <a:ext cx="2560320" cy="9144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200" b="1">
                <a:solidFill>
                  <a:srgbClr val="F59E0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🏛️ Professor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Grants · Patents · Supervision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00800"/>
            <a:ext cx="10911535" cy="731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448552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🏛️ University Research Cell App &amp; AI Assistant  •  CodeCraft Challenge — Problem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8177" y="6473952"/>
            <a:ext cx="383438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1 / 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272355F-F2C4-D6CD-6F9D-03BCE8151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41" y="39329"/>
            <a:ext cx="3313404" cy="677934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5CB9D2-BC7B-2C29-B029-7157962C4980}"/>
              </a:ext>
            </a:extLst>
          </p:cNvPr>
          <p:cNvSpPr txBox="1"/>
          <p:nvPr/>
        </p:nvSpPr>
        <p:spPr>
          <a:xfrm>
            <a:off x="357542" y="5818480"/>
            <a:ext cx="3078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TT Firs Neue" panose="020B0003030000020004" pitchFamily="34" charset="0"/>
              </a:rPr>
              <a:t>Designed by:-</a:t>
            </a:r>
          </a:p>
          <a:p>
            <a:r>
              <a:rPr lang="en-US" sz="1200" b="1" dirty="0">
                <a:solidFill>
                  <a:schemeClr val="bg1"/>
                </a:solidFill>
                <a:latin typeface="TT Firs Neue" panose="020B0003030000020004" pitchFamily="34" charset="0"/>
              </a:rPr>
              <a:t>	</a:t>
            </a:r>
            <a:r>
              <a:rPr lang="en-US" sz="1200" dirty="0">
                <a:solidFill>
                  <a:schemeClr val="bg1"/>
                </a:solidFill>
                <a:latin typeface="TT Firs Neue" panose="020B0003030000020004" pitchFamily="34" charset="0"/>
              </a:rPr>
              <a:t>Kaushalendra Kumar (1 Year BCA)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201369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ROLE-BASED EXPERIENCES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842570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Three Tailored Dashboards — Student · Scholar · Professor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5567" y="1143000"/>
            <a:ext cx="1615186" cy="26161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🎓 Student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46320"/>
            <a:ext cx="3566160" cy="13716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37160" rtlCol="0" anchor="ctr"/>
          <a:lstStyle/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Faculty Mentor Matching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Simplified Paper Digests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Summer Research Internships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Undergraduate AI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0108" y="1143000"/>
            <a:ext cx="1592744" cy="26161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🔬 Scholar Suite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846320"/>
            <a:ext cx="3566160" cy="13716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37160" rtlCol="0" anchor="ctr"/>
          <a:lstStyle/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Thesis Milestone Tracker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PMRF / CSIR Fellowships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Manuscript Review Pipeline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DOI Library &amp;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550" y="1143000"/>
            <a:ext cx="2102499" cy="26161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🏛️ Professor / PI Suite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846320"/>
            <a:ext cx="3566160" cy="13716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37160" rtlCol="0" anchor="ctr"/>
          <a:lstStyle/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PI Command Desk &amp; KPIs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Multi-Stage Grant Approvals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Patent &amp; IP Registry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Lab Scholar Supervision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00800"/>
            <a:ext cx="10911535" cy="731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448552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🏛️ University Research Cell App &amp; AI Assistant  •  CodeCraft Challenge — Problem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42529" y="6473952"/>
            <a:ext cx="409086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2 / 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7D702F-0264-55BB-0CC3-665FF0039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315" y="1404610"/>
            <a:ext cx="1615185" cy="33047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F94C06B-CED4-5792-A325-6FE82A3381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635" y="1448593"/>
            <a:ext cx="1597764" cy="326074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AC8C5C2-2873-39BE-3EB0-1F5BC655AE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8476" y="1476643"/>
            <a:ext cx="1599802" cy="32607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224612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AI · DATABASE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82512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AI Research Assistant, MySQL Schema &amp; Zero-Downtime Resilience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219456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 algn="ctr">
              <a:defRPr sz="2800"/>
            </a:pPr>
            <a:r>
              <a:rPr>
                <a:latin typeface="TT Firs Neue" panose="020B0003030000020004" pitchFamily="34" charset="0"/>
              </a:rPr>
              <a:t>📱</a:t>
            </a:r>
          </a:p>
          <a:p>
            <a:pPr algn="ctr">
              <a:defRPr sz="900" b="1">
                <a:solidFill>
                  <a:srgbClr val="A855F7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AI Chatbot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Screen</a:t>
            </a:r>
          </a:p>
          <a:p>
            <a:pPr algn="ctr">
              <a:defRPr sz="7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Right-click → Change Picture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to replace with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234440"/>
            <a:ext cx="411480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rtlCol="0" anchor="ctr"/>
          <a:lstStyle/>
          <a:p>
            <a:pPr algn="ctr">
              <a:defRPr sz="1300" b="1">
                <a:solidFill>
                  <a:srgbClr val="A855F7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🧠 Conversational AI Engine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Faculty search by expertise ("Who works on IoT?")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Live grant eligibility — SERB, BIRAC, DRDO budgets &amp; deadlines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Real-time proposal status lookups from database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Patent filing guidance &amp; IPR form downloads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• Action chips: View Profile, Draft Proposal, See Papers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3383280"/>
            <a:ext cx="411480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rtlCol="0" anchor="ctr"/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🗄️ Hostinger MySQL — 8 Relational Tables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departments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Structure &amp; HOD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researchers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H-index, Scopus, ORCID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publications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Journal / Conf / Book + DOI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patents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IPO / USPTO filings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conferences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Deadlines &amp; Modes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project_proposals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Multi-stage approval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funding_opportunities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SERB, BIRAC, DRDO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06B6D4"/>
                </a:solidFill>
                <a:latin typeface="TT Firs Neue" panose="020B0003030000020004" pitchFamily="34" charset="0"/>
              </a:rPr>
              <a:t>notifications</a:t>
            </a:r>
            <a:r>
              <a:rPr sz="900">
                <a:solidFill>
                  <a:srgbClr val="94A3B8"/>
                </a:solidFill>
                <a:latin typeface="TT Firs Neue" panose="020B0003030000020004" pitchFamily="34" charset="0"/>
              </a:rPr>
              <a:t>  —  Role-targeted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234440"/>
            <a:ext cx="4236415" cy="2377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rtlCol="0" anchor="ctr"/>
          <a:lstStyle/>
          <a:p>
            <a:pPr algn="ctr">
              <a:defRPr sz="1300" b="1">
                <a:solidFill>
                  <a:srgbClr val="3B82F6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🛡️ Zero-Downtime Architecture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F8FAFC"/>
                </a:solidFill>
                <a:latin typeface="TT Firs Neue" panose="020B0003030000020004" pitchFamily="34" charset="0"/>
              </a:rPr>
              <a:t>➔ Layer 1: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Live Hostinger Cloud MySQL with connection pooling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F8FAFC"/>
                </a:solidFill>
                <a:latin typeface="TT Firs Neue" panose="020B0003030000020004" pitchFamily="34" charset="0"/>
              </a:rPr>
              <a:t>➔ Layer 2: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In-memory mock data fallback — zero 500 errors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F8FAFC"/>
                </a:solidFill>
                <a:latin typeface="TT Firs Neue" panose="020B0003030000020004" pitchFamily="34" charset="0"/>
              </a:rPr>
              <a:t>➔ Layer 3: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Client-side static dataset if server unreachable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F8FAFC"/>
                </a:solidFill>
                <a:latin typeface="TT Firs Neue" panose="020B0003030000020004" pitchFamily="34" charset="0"/>
              </a:rPr>
              <a:t>➔ Result: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App never crashes, works offline &amp; online seamlessly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749039"/>
            <a:ext cx="2011680" cy="1874519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 algn="ctr">
              <a:defRPr sz="2800"/>
            </a:pPr>
            <a:r>
              <a:rPr>
                <a:latin typeface="TT Firs Neue" panose="020B0003030000020004" pitchFamily="34" charset="0"/>
              </a:rPr>
              <a:t>📱</a:t>
            </a:r>
          </a:p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Notifications</a:t>
            </a:r>
          </a:p>
          <a:p>
            <a:pPr algn="ctr">
              <a:defRPr sz="7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Right-click → Change Picture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to replace with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3749039"/>
            <a:ext cx="2041855" cy="1874519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>
              <a:defRPr sz="800"/>
            </a:pPr>
            <a:endParaRPr>
              <a:latin typeface="TT Firs Neue" panose="020B0003030000020004" pitchFamily="34" charset="0"/>
            </a:endParaRPr>
          </a:p>
          <a:p>
            <a:pPr algn="ctr">
              <a:defRPr sz="2800"/>
            </a:pPr>
            <a:r>
              <a:rPr>
                <a:latin typeface="TT Firs Neue" panose="020B0003030000020004" pitchFamily="34" charset="0"/>
              </a:rPr>
              <a:t>📱</a:t>
            </a:r>
          </a:p>
          <a:p>
            <a:pPr algn="ctr">
              <a:defRPr sz="900" b="1">
                <a:solidFill>
                  <a:srgbClr val="06B6D4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Add Publication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Modal</a:t>
            </a:r>
          </a:p>
          <a:p>
            <a:pPr algn="ctr">
              <a:defRPr sz="7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Right-click → Change Picture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to replace with screenshot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00800"/>
            <a:ext cx="10911535" cy="731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448552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🏛️ University Research Cell App &amp; AI Assistant  •  CodeCraft Challenge — Problem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0925" y="6473952"/>
            <a:ext cx="410690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17395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RESULTS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5755102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Impact, Key Metrics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697480" cy="1234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rPr dirty="0">
                <a:latin typeface="TT Firs Neue" panose="020B0003030000020004" pitchFamily="34" charset="0"/>
              </a:rPr>
              <a:t>245 </a:t>
            </a:r>
            <a:r>
              <a:rPr lang="en-US" dirty="0">
                <a:latin typeface="TT Firs Neue" panose="020B0003030000020004" pitchFamily="34" charset="0"/>
              </a:rPr>
              <a:t>++</a:t>
            </a:r>
            <a:endParaRPr dirty="0">
              <a:latin typeface="TT Firs Neue" panose="020B0003030000020004" pitchFamily="34" charset="0"/>
            </a:endParaRP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rPr dirty="0">
                <a:latin typeface="TT Firs Neue" panose="020B0003030000020004" pitchFamily="34" charset="0"/>
              </a:rPr>
              <a:t>Active Research</a:t>
            </a:r>
            <a:br>
              <a:rPr dirty="0">
                <a:latin typeface="TT Firs Neue" panose="020B0003030000020004" pitchFamily="34" charset="0"/>
              </a:rPr>
            </a:br>
            <a:r>
              <a:rPr lang="en-US" dirty="0">
                <a:latin typeface="TT Firs Neue" panose="020B0003030000020004" pitchFamily="34" charset="0"/>
              </a:rPr>
              <a:t>Paper</a:t>
            </a:r>
            <a:endParaRPr dirty="0">
              <a:latin typeface="TT Firs Neue" panose="020B0003030000020004" pitchFamily="3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0" y="5212080"/>
            <a:ext cx="2864815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>
              <a:defRPr sz="800"/>
            </a:pPr>
            <a:endParaRPr dirty="0">
              <a:latin typeface="TT Firs Neue" panose="020B0003030000020004" pitchFamily="34" charset="0"/>
            </a:endParaRPr>
          </a:p>
          <a:p>
            <a:pPr algn="ctr">
              <a:defRPr sz="2800"/>
            </a:pPr>
            <a:r>
              <a:rPr dirty="0">
                <a:latin typeface="TT Firs Neue" panose="020B0003030000020004" pitchFamily="34" charset="0"/>
              </a:rPr>
              <a:t>📱</a:t>
            </a:r>
          </a:p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rPr dirty="0">
                <a:latin typeface="TT Firs Neue" panose="020B0003030000020004" pitchFamily="34" charset="0"/>
              </a:rPr>
              <a:t>Settings / Theme Toggle</a:t>
            </a:r>
          </a:p>
          <a:p>
            <a:pPr algn="ctr">
              <a:defRPr sz="750">
                <a:solidFill>
                  <a:srgbClr val="64748B"/>
                </a:solidFill>
                <a:latin typeface="Segoe UI"/>
              </a:defRPr>
            </a:pPr>
            <a:r>
              <a:rPr dirty="0">
                <a:latin typeface="TT Firs Neue" panose="020B0003030000020004" pitchFamily="34" charset="0"/>
              </a:rPr>
              <a:t>Right-click → Change Picture</a:t>
            </a:r>
            <a:br>
              <a:rPr dirty="0">
                <a:latin typeface="TT Firs Neue" panose="020B0003030000020004" pitchFamily="34" charset="0"/>
              </a:rPr>
            </a:br>
            <a:r>
              <a:rPr dirty="0">
                <a:latin typeface="TT Firs Neue" panose="020B0003030000020004" pitchFamily="34" charset="0"/>
              </a:rPr>
              <a:t>to replace with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188720"/>
            <a:ext cx="2697480" cy="1234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2200" b="1">
                <a:solidFill>
                  <a:srgbClr val="06B6D4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100%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Paper &amp; Patent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Traceability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188720"/>
            <a:ext cx="2697480" cy="1234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2200" b="1">
                <a:solidFill>
                  <a:srgbClr val="10B981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10x Faster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Proposal Approval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89136" y="1188720"/>
            <a:ext cx="2697480" cy="1234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rtlCol="0" anchor="ctr"/>
          <a:lstStyle/>
          <a:p>
            <a:pPr algn="ctr">
              <a:defRPr sz="2200" b="1">
                <a:solidFill>
                  <a:srgbClr val="3B82F6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Zero Downtime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Fault-Tolerant</a:t>
            </a:r>
            <a:br>
              <a:rPr>
                <a:latin typeface="TT Firs Neue" panose="020B0003030000020004" pitchFamily="34" charset="0"/>
              </a:rPr>
            </a:br>
            <a:r>
              <a:rPr>
                <a:latin typeface="TT Firs Neue" panose="020B0003030000020004" pitchFamily="34" charset="0"/>
              </a:rPr>
              <a:t>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029200" cy="24688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rtlCol="0" anchor="ctr"/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✅ All PDF Objectives — Implemented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Centralize university research info → Executive dashboard with KPIs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Maintain researcher &amp; faculty profiles → Scopus / ORCID directory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Manage publications &amp; research projects → Multi-type publication repo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Notify about funding &amp; conferences → Live grant listings + push alerts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Track project proposals &amp; approvals → Multi-stage lifecycle pipeline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Maintain patent &amp; conference records → IPO/USPTO registry + calendar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✔ AI Research Chatbot → Context-aware assistant for R&amp;D queries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06040"/>
            <a:ext cx="5699455" cy="24688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rtlCol="0" anchor="ctr"/>
          <a:lstStyle/>
          <a:p>
            <a:pPr algn="ctr">
              <a:defRPr sz="1300" b="1">
                <a:solidFill>
                  <a:srgbClr val="A855F7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🚀 Future Roadmap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  <a:latin typeface="TT Firs Neue" panose="020B0003030000020004" pitchFamily="34" charset="0"/>
              </a:rPr>
              <a:t>Phase 1 — Integrations: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Scopus/ORCID API sync, Crossref DOI fetch, OAuth2 SSO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  <a:latin typeface="TT Firs Neue" panose="020B0003030000020004" pitchFamily="34" charset="0"/>
              </a:rPr>
              <a:t>Phase 2 — Advanced AI: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LLM grant proposal scoring, AI lit-review, plagiarism check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  <a:latin typeface="TT Firs Neue" panose="020B0003030000020004" pitchFamily="34" charset="0"/>
              </a:rPr>
              <a:t>Phase 3 — Scale:</a:t>
            </a:r>
            <a:r>
              <a:rPr sz="950">
                <a:solidFill>
                  <a:srgbClr val="94A3B8"/>
                </a:solidFill>
                <a:latin typeface="TT Firs Neue" panose="020B0003030000020004" pitchFamily="34" charset="0"/>
              </a:rPr>
              <a:t> Multi-institution SaaS cloud, blockchain patent timestamps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7772400" cy="9144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91440" rtlCol="0" anchor="ctr"/>
          <a:lstStyle/>
          <a:p>
            <a:pPr algn="ctr">
              <a:defRPr sz="1600" b="1">
                <a:solidFill>
                  <a:srgbClr val="F8FAFC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🎉 Thank You! Ready for Live Demo &amp; Evaluation</a:t>
            </a:r>
          </a:p>
          <a:p>
            <a:pPr>
              <a:defRPr sz="1000">
                <a:solidFill>
                  <a:srgbClr val="06B6D4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React Native (Expo) + Node.js Express + Hostinger MySQL + AI Chatbot  •  CodeCraft Challenge — Problem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11535" cy="731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T Firs Neue" panose="020B00030300000200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448552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🏛️ University Research Cell App &amp; AI Assistant  •  CodeCraft Challenge — Problem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2529" y="6473952"/>
            <a:ext cx="409086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rPr>
                <a:latin typeface="TT Firs Neue" panose="020B0003030000020004" pitchFamily="34" charset="0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1329</Words>
  <Application>Microsoft Office PowerPoint</Application>
  <PresentationFormat>Widescreen</PresentationFormat>
  <Paragraphs>164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TT Firs Neue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Kaushalendra Kumar</cp:lastModifiedBy>
  <cp:revision>6</cp:revision>
  <dcterms:created xsi:type="dcterms:W3CDTF">2013-01-27T09:14:16Z</dcterms:created>
  <dcterms:modified xsi:type="dcterms:W3CDTF">2026-10-05T08:55:13Z</dcterms:modified>
  <cp:category/>
</cp:coreProperties>
</file>