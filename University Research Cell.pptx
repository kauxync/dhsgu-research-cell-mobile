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TT Firs Neue" panose="020B0003030000020004" pitchFamily="34" charset="0"/>
      <p:regular r:id="rId10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483" y="990600"/>
            <a:ext cx="228600" cy="228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225" y="4711005"/>
            <a:ext cx="152400" cy="152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5025" y="4711005"/>
            <a:ext cx="13335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1350" y="4711005"/>
            <a:ext cx="13335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80483" y="1004887"/>
            <a:ext cx="307616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DR. HARISINGH GOUR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11356" y="1975544"/>
            <a:ext cx="316913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CODECRAFT CHALLENGE — PROBLEM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6325" y="2470844"/>
            <a:ext cx="8619347" cy="75661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University Research Cell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4125" y="3529905"/>
            <a:ext cx="71437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64748B"/>
                </a:solidFill>
                <a:latin typeface="TT Firs Neue" panose="020B0003030000020004" pitchFamily="34" charset="0"/>
              </a:rPr>
              <a:t>Full-stack platform and AI assistant for campus R&amp;D ecosystems.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8423" y="4694872"/>
            <a:ext cx="1069203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475569"/>
                </a:solidFill>
                <a:latin typeface="TT Firs Neue" panose="020B0003030000020004" pitchFamily="34" charset="0"/>
              </a:rPr>
              <a:t> React Native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183" y="4694872"/>
            <a:ext cx="618759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475569"/>
                </a:solidFill>
                <a:latin typeface="TT Firs Neue" panose="020B0003030000020004" pitchFamily="34" charset="0"/>
              </a:rPr>
              <a:t> Node.js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81510" y="4694872"/>
            <a:ext cx="562654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475569"/>
                </a:solidFill>
                <a:latin typeface="TT Firs Neue" panose="020B0003030000020004" pitchFamily="34" charset="0"/>
              </a:rPr>
              <a:t>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0" y="0"/>
            <a:ext cx="51435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0" y="0"/>
            <a:ext cx="51435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3353692"/>
            <a:ext cx="28575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4182367"/>
            <a:ext cx="25717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011042"/>
            <a:ext cx="28575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2500" y="1351657"/>
            <a:ext cx="410368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DR. HARISINGH GOUR UNIVERSITY  |  THE MANDATE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1770757"/>
            <a:ext cx="5500687" cy="117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 dirty="0">
                <a:solidFill>
                  <a:srgbClr val="0F172A"/>
                </a:solidFill>
                <a:latin typeface="TT Firs Neue" panose="020B0003030000020004" pitchFamily="34" charset="0"/>
              </a:rPr>
              <a:t>Centralized R&amp;D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3325117"/>
            <a:ext cx="1646285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Unified Profiles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8750" y="3648967"/>
            <a:ext cx="370133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TT Firs Neue" panose="020B0003030000020004" pitchFamily="34" charset="0"/>
              </a:rPr>
              <a:t>Faculty directory linked to Scopus and ORCID.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0175" y="4153792"/>
            <a:ext cx="1942840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Lifecycle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0175" y="4477642"/>
            <a:ext cx="368851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TT Firs Neue" panose="020B0003030000020004" pitchFamily="34" charset="0"/>
              </a:rPr>
              <a:t>Multi-stage pipeline for proposals and grants.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750" y="4982467"/>
            <a:ext cx="1728037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Proactive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8750" y="5306317"/>
            <a:ext cx="377827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TT Firs Neue" panose="020B0003030000020004" pitchFamily="34" charset="0"/>
              </a:rPr>
              <a:t>Targeted funding and conference notifications.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52500" y="2445990"/>
            <a:ext cx="3225849" cy="3438525"/>
          </a:xfrm>
          <a:prstGeom prst="roundRect">
            <a:avLst>
              <a:gd name="adj" fmla="val 472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T Firs Neue" panose="020B00030300000200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483149" y="2445990"/>
            <a:ext cx="3225849" cy="3438525"/>
          </a:xfrm>
          <a:prstGeom prst="roundRect">
            <a:avLst>
              <a:gd name="adj" fmla="val 472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T Firs Neue" panose="020B00030300000200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013799" y="2445990"/>
            <a:ext cx="3225849" cy="3438525"/>
          </a:xfrm>
          <a:prstGeom prst="roundRect">
            <a:avLst>
              <a:gd name="adj" fmla="val 472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T Firs Neue" panose="020B0003030000020004" pitchFamily="34" charset="0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350" y="2903190"/>
            <a:ext cx="762000" cy="76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903190"/>
            <a:ext cx="762000" cy="76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5649" y="2903190"/>
            <a:ext cx="762000" cy="76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4850" y="3131790"/>
            <a:ext cx="3810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3131790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4249" y="3131790"/>
            <a:ext cx="3048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3775" y="4531965"/>
            <a:ext cx="1524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3775" y="4884390"/>
            <a:ext cx="15240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3775" y="5236815"/>
            <a:ext cx="15240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187" y="4531965"/>
            <a:ext cx="15240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187" y="4884390"/>
            <a:ext cx="15240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187" y="5236815"/>
            <a:ext cx="15240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5549" y="4531965"/>
            <a:ext cx="15240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5549" y="4884390"/>
            <a:ext cx="15240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5549" y="5236815"/>
            <a:ext cx="152400" cy="1809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69429" y="762000"/>
            <a:ext cx="445314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DR. HARISINGH GOUR UNIVERSITY  |  TARGET AUDIENCE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1290" y="1181100"/>
            <a:ext cx="6309420" cy="5129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Three Tailored Experiences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38888" y="3969990"/>
            <a:ext cx="1853071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Student Suite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1942" y="3969990"/>
            <a:ext cx="1848262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Scholar Suite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1777" y="3969990"/>
            <a:ext cx="1009892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PI Desk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0475" y="4518578"/>
            <a:ext cx="2063065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T Firs Neue" panose="020B0003030000020004" pitchFamily="34" charset="0"/>
              </a:rPr>
              <a:t>Faculty mentor matching.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0475" y="4871003"/>
            <a:ext cx="1994136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T Firs Neue" panose="020B0003030000020004" pitchFamily="34" charset="0"/>
              </a:rPr>
              <a:t>Simplified paper digests.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0475" y="5223428"/>
            <a:ext cx="1936428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T Firs Neue" panose="020B0003030000020004" pitchFamily="34" charset="0"/>
              </a:rPr>
              <a:t>Summer lab internships.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5887" y="4518578"/>
            <a:ext cx="1994136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T Firs Neue" panose="020B0003030000020004" pitchFamily="34" charset="0"/>
              </a:rPr>
              <a:t>Thesis milestone tracker.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5887" y="4871003"/>
            <a:ext cx="1771319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0" i="0" u="none" dirty="0">
                <a:solidFill>
                  <a:srgbClr val="475569"/>
                </a:solidFill>
                <a:latin typeface="TT Firs Neue" panose="020B0003030000020004" pitchFamily="34" charset="0"/>
              </a:rPr>
              <a:t>PMRF / CSIR tracking.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5887" y="5223428"/>
            <a:ext cx="1832233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T Firs Neue" panose="020B0003030000020004" pitchFamily="34" charset="0"/>
              </a:rPr>
              <a:t>DOI library integration.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12249" y="4518578"/>
            <a:ext cx="2103140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T Firs Neue" panose="020B0003030000020004" pitchFamily="34" charset="0"/>
              </a:rPr>
              <a:t>Active R&amp;D portfolio KPIs.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12249" y="4871003"/>
            <a:ext cx="1683153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T Firs Neue" panose="020B0003030000020004" pitchFamily="34" charset="0"/>
              </a:rPr>
              <a:t>Grant approval desk.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12249" y="5223428"/>
            <a:ext cx="1667123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T Firs Neue" panose="020B0003030000020004" pitchFamily="34" charset="0"/>
              </a:rPr>
              <a:t>Supervised scholars.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76425"/>
            <a:ext cx="381000" cy="381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550" y="1876425"/>
            <a:ext cx="3810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581400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2550" y="3581400"/>
            <a:ext cx="285750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2500" y="1813619"/>
            <a:ext cx="49339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DR. HARISINGH GOUR UNIVERSITY  |  CONVERSATIONAL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2423219"/>
            <a:ext cx="5180647" cy="117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Context-Aware AI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901380"/>
            <a:ext cx="46672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 dirty="0">
                <a:solidFill>
                  <a:srgbClr val="64748B"/>
                </a:solidFill>
                <a:latin typeface="TT Firs Neue" panose="020B0003030000020004" pitchFamily="34" charset="0"/>
              </a:rPr>
              <a:t>Instant querying across 8 relational databases using natural language.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86025"/>
            <a:ext cx="199253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Expertise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876550"/>
            <a:ext cx="236220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TT Firs Neue" panose="020B0003030000020004" pitchFamily="34" charset="0"/>
              </a:rPr>
              <a:t>Find faculty by research niche.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2550" y="2486025"/>
            <a:ext cx="183864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Grant Eligibility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2550" y="2876550"/>
            <a:ext cx="236220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TT Firs Neue" panose="020B0003030000020004" pitchFamily="34" charset="0"/>
              </a:rPr>
              <a:t>Live tracking of SERB &amp; BIRAC limits.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191000"/>
            <a:ext cx="185948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Proposal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81525"/>
            <a:ext cx="236220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TT Firs Neue" panose="020B0003030000020004" pitchFamily="34" charset="0"/>
              </a:rPr>
              <a:t>Real-time approval pipeline lookups.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2550" y="4191000"/>
            <a:ext cx="157254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IPR Guidance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2550" y="4581525"/>
            <a:ext cx="236220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TT Firs Neue" panose="020B0003030000020004" pitchFamily="34" charset="0"/>
              </a:rPr>
              <a:t>Patent filing forms and legal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13936" y="1543942"/>
            <a:ext cx="476412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DR. HARISINGH GOUR UNIVERSITY  |  RESILIENCE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9730" y="1963042"/>
            <a:ext cx="6692538" cy="5129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Zero-Downtime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981200" y="3799433"/>
            <a:ext cx="8229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T Firs Neue" panose="020B00030300000200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286000" y="3418433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T Firs Neue" panose="020B00030300000200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715000" y="3418433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T Firs Neue" panose="020B00030300000200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144000" y="3418433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T Firs Neue" panose="020B00030300000200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43125" y="3637850"/>
            <a:ext cx="104775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6255" y="4485233"/>
            <a:ext cx="122148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Live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913858"/>
            <a:ext cx="371475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TT Firs Neue" panose="020B0003030000020004" pitchFamily="34" charset="0"/>
              </a:rPr>
              <a:t>Hostinger MySQL with connection pooling.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2125" y="3637850"/>
            <a:ext cx="104775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1680" y="4485233"/>
            <a:ext cx="204863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Memory 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8625" y="4913858"/>
            <a:ext cx="371475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TT Firs Neue" panose="020B0003030000020004" pitchFamily="34" charset="0"/>
              </a:rPr>
              <a:t>In-memory data bypasses 500 errors.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1125" y="3637850"/>
            <a:ext cx="104775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4719" y="4485233"/>
            <a:ext cx="158056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Offline 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3938" y="4913858"/>
            <a:ext cx="284212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TT Firs Neue" panose="020B0003030000020004" pitchFamily="34" charset="0"/>
              </a:rPr>
              <a:t>Static local datasets load instantly.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98800" y="3295650"/>
            <a:ext cx="9525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T Firs Neue" panose="020B00030300000200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27700" y="3295650"/>
            <a:ext cx="9525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T Firs Neue" panose="020B00030300000200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683525" y="3295650"/>
            <a:ext cx="9525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T Firs Neue" panose="020B0003030000020004" pitchFamily="34" charset="0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9426" y="3267075"/>
            <a:ext cx="533400" cy="60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790080" y="2343150"/>
            <a:ext cx="461184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DR. HARISINGH GOUR UNIVERSITY  |  ECOSYSTEM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2169" y="3143250"/>
            <a:ext cx="2006960" cy="7846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245+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9962" y="4057650"/>
            <a:ext cx="26113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TT Firs Neue" panose="020B0003030000020004" pitchFamily="34" charset="0"/>
              </a:rPr>
              <a:t>Active Research Papers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610" y="3143250"/>
            <a:ext cx="2136803" cy="7846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45978" y="4057650"/>
            <a:ext cx="174406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TT Firs Neue" panose="020B0003030000020004" pitchFamily="34" charset="0"/>
              </a:rPr>
              <a:t>Patent Traceability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4289" y="3143250"/>
            <a:ext cx="1372171" cy="7846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10x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2956" y="4057650"/>
            <a:ext cx="151483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TT Firs Neue" panose="020B0003030000020004" pitchFamily="34" charset="0"/>
              </a:rPr>
              <a:t>Faster Approvals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0513" y="4057650"/>
            <a:ext cx="26113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TT Firs Neue" panose="020B0003030000020004" pitchFamily="34" charset="0"/>
              </a:rPr>
              <a:t>Zero-Downtime Operations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81625" y="15144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T Firs Neue" panose="020B00030300000200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381625" y="294322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T Firs Neue" panose="020B00030300000200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381625" y="43719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T Firs Neue" panose="020B00030300000200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2500" y="2423219"/>
            <a:ext cx="42100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DR. HARISINGH GOUR UNIVERSITY  |  FUTURE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032819"/>
            <a:ext cx="4100512" cy="117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The Next Evolution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8350" y="1514475"/>
            <a:ext cx="801501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8350" y="1819275"/>
            <a:ext cx="2878993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External Integrations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8350" y="2257425"/>
            <a:ext cx="487312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TT Firs Neue" panose="020B0003030000020004" pitchFamily="34" charset="0"/>
              </a:rPr>
              <a:t>Scopus API sync, Crossref DOI fetch, and OAuth2 SSO.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8350" y="2943225"/>
            <a:ext cx="84318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8350" y="3248025"/>
            <a:ext cx="3581109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Advanced LLM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8350" y="3686175"/>
            <a:ext cx="525143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TT Firs Neue" panose="020B0003030000020004" pitchFamily="34" charset="0"/>
              </a:rPr>
              <a:t>Automated grant proposal scoring and AI literature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8350" y="4371975"/>
            <a:ext cx="846386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PHASE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8350" y="4676775"/>
            <a:ext cx="1752083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Global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8350" y="5114925"/>
            <a:ext cx="508953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TT Firs Neue" panose="020B0003030000020004" pitchFamily="34" charset="0"/>
              </a:rPr>
              <a:t>Multi-institution SaaS cloud and blockchain timestamps.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483" y="990600"/>
            <a:ext cx="228600" cy="228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80483" y="1004887"/>
            <a:ext cx="307616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DR. HARISINGH GOUR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33786" y="3038475"/>
            <a:ext cx="4924425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F172A"/>
                </a:solidFill>
                <a:latin typeface="TT Firs Neue" panose="020B0003030000020004" pitchFamily="34" charset="0"/>
              </a:rPr>
              <a:t>Ready for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303</Words>
  <Application>Microsoft Office PowerPoint</Application>
  <PresentationFormat>Widescreen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TT Firs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Kaushalendra Kumar</cp:lastModifiedBy>
  <cp:revision>3</cp:revision>
  <dcterms:created xsi:type="dcterms:W3CDTF">2013-01-27T09:14:16Z</dcterms:created>
  <dcterms:modified xsi:type="dcterms:W3CDTF">2026-10-05T08:59:21Z</dcterms:modified>
  <cp:category/>
</cp:coreProperties>
</file>